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0" r:id="rId7"/>
    <p:sldId id="262" r:id="rId8"/>
    <p:sldId id="261" r:id="rId9"/>
    <p:sldId id="269" r:id="rId10"/>
    <p:sldId id="270" r:id="rId11"/>
    <p:sldId id="266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3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369E-1D01-4E18-A41B-972E5282A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ACB01-ADDD-13C8-7D78-4FD47D1E3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7438D-EA18-361E-D59E-153377263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E2FD9-74C2-C9B0-1BDC-57B92DCB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74D17-63FA-E32E-A58E-466459435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08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9A7-DC78-3CB3-7F00-929E421E9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4783-8B8F-B836-F68D-81BDF16A1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E82BE-60AE-D797-7868-81B8EF46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0722-9270-7EDB-981C-B923AA08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E6731-DBE6-4F74-E2CF-7659DBC8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24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B8AFF-E64A-AF8D-BBC2-E5AB945B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CB9A4-3B4F-7FE6-9B28-F5EF72B25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A73C0-5E6E-B28A-6C22-06D9AC472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9FA3B-4073-0F86-8AC8-81E0E4C3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5269F-612E-B784-B48A-95AA0791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166B-106E-C76B-9CE8-1B9A4AE5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3AF0E-E8F2-1B19-B65C-0E1CC0813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FFB13-732B-DEF8-DBEC-5F73E23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73C03-C9D7-F051-B57E-8DA06873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D1B14-3A56-41BB-4E4A-4735998A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54A9C-028F-0B55-463A-1087581A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903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166EC-9430-6B3D-E0CE-0A71B38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26AD1-F80A-C09B-B640-E65D99E6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293B4-0027-A04C-BA3E-441C93A1D8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E42C3-BCA9-FB95-D8DC-7F3044ADD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8EFB4-7BB2-F8E3-21FC-7E4A10DFD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1C773-744A-FCD3-C078-3DC992C32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26583-570F-F397-D583-9963BD0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8FC52-BDE3-9E21-7004-9001CC624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917DB-BC11-A965-7D47-A8306272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59EBB-66AC-0A22-FB25-AA24D18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1C889-A42D-7ECD-6189-48F6199C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3D6C85-1A5C-85A2-D47F-73050C49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0732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6DA96-DA53-0AED-0F58-E803782E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8408AC-42F9-A3E6-20C6-19B6AFB0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9749-EC75-7164-FBE8-61C5FD95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23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E5F6-B24D-5E61-DC38-DA3F87B3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0E6B7-31E9-4177-5C1F-03A7DBD3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10E19-657E-B541-E036-959BA418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2AEC1-909F-60C3-702B-6244A8A7D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E6BA-2E7B-3E57-2F0C-5F2FD171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71D75-64B2-1389-FADB-ED9520B8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443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262D-CF25-FD3A-5B0C-AFA7F0A7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E524-18D7-464E-3F34-14CBF4862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712348-99C4-F005-5D92-24A299F99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898F6-D595-1FDE-2158-79E6686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7F9F-625D-1107-9BCE-138B2981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C0215-9ED1-CB53-652D-46D93AD2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03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DE86-64B7-9F0A-5001-6F43A0FA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37D706-8AAA-2524-04BB-26C462420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8E778-061C-459E-CD0C-58DCA0CF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FE4EF-7849-CFF9-1385-7BDB42DF6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A96F9-D0E3-05A9-C32F-CCFCFCE6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4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D04E30-06E1-5212-4B6D-25886B9C3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C275C-3D2D-2452-9149-89BBE7CA6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131ED-A5B2-3FF2-8E5C-283664AB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8846-9586-A23A-3D98-740B85ED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27319-B31F-9567-7E64-8BEAB1A3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76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79A75-0843-3E26-FA3D-7955B436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EE1-247A-E887-762B-4BC2DBFD3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DF53D-E00E-7D7F-402F-506A960A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DC96-5252-D529-FF28-16B0D99D0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4C6E2-66C6-AF10-CC28-03DE3A9B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5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391" y="2939903"/>
            <a:ext cx="11565218" cy="978194"/>
          </a:xfrm>
        </p:spPr>
        <p:txBody>
          <a:bodyPr>
            <a:normAutofit/>
          </a:bodyPr>
          <a:lstStyle/>
          <a:p>
            <a:r>
              <a:rPr lang="en-IN" dirty="0"/>
              <a:t> Examination Monitoring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7411" y="4890977"/>
            <a:ext cx="3239387" cy="1222744"/>
          </a:xfrm>
        </p:spPr>
        <p:txBody>
          <a:bodyPr>
            <a:normAutofit/>
          </a:bodyPr>
          <a:lstStyle/>
          <a:p>
            <a:r>
              <a:rPr lang="en-IN" dirty="0"/>
              <a:t>Submitted By:</a:t>
            </a:r>
            <a:br>
              <a:rPr lang="en-IN" dirty="0"/>
            </a:br>
            <a:r>
              <a:rPr lang="en-IN" dirty="0"/>
              <a:t>Siddhesh Singh Parmar</a:t>
            </a:r>
          </a:p>
          <a:p>
            <a:r>
              <a:rPr lang="en-IN" dirty="0"/>
              <a:t>2427030221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Supervised By:</a:t>
            </a:r>
          </a:p>
          <a:p>
            <a:r>
              <a:rPr lang="en-IN" dirty="0"/>
              <a:t>Harshika Mathur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7542" y="1258784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Solution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Results</a:t>
            </a:r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CBD1-1236-BD10-F9B4-E2675BA38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Online examinations have increased significantly after digital transformation in education.</a:t>
            </a:r>
            <a:br>
              <a:rPr lang="en-US" dirty="0"/>
            </a:br>
            <a:r>
              <a:rPr lang="en-US" dirty="0"/>
              <a:t>Traditional online exams lack effective monitoring systems, making them vulnerable to malpractice.</a:t>
            </a:r>
          </a:p>
          <a:p>
            <a:pPr marL="0" indent="0">
              <a:buNone/>
            </a:pPr>
            <a:r>
              <a:rPr lang="en-US" b="1" dirty="0"/>
              <a:t>Manual invigilation is:</a:t>
            </a:r>
          </a:p>
          <a:p>
            <a:r>
              <a:rPr lang="en-US" dirty="0"/>
              <a:t>Costly</a:t>
            </a:r>
          </a:p>
          <a:p>
            <a:r>
              <a:rPr lang="en-US" dirty="0"/>
              <a:t>Not scalable</a:t>
            </a:r>
          </a:p>
          <a:p>
            <a:r>
              <a:rPr lang="en-US" dirty="0"/>
              <a:t>Prone to human error</a:t>
            </a:r>
          </a:p>
          <a:p>
            <a:pPr marL="0" indent="0">
              <a:buNone/>
            </a:pPr>
            <a:r>
              <a:rPr lang="en-US" dirty="0"/>
              <a:t>Hence, an automated AI-based proctoring system is required.</a:t>
            </a:r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61554-2539-2B3E-C268-2A25B42E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86F7C-A710-CC3D-2DBA-7A98595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Our system uses Computer Vision techniques to:</a:t>
            </a:r>
          </a:p>
          <a:p>
            <a:pPr marL="0" indent="0">
              <a:buNone/>
            </a:pPr>
            <a:r>
              <a:rPr lang="en-US" dirty="0"/>
              <a:t>• Detect head orientation</a:t>
            </a:r>
            <a:br>
              <a:rPr lang="en-US" dirty="0"/>
            </a:br>
            <a:r>
              <a:rPr lang="en-US" dirty="0"/>
              <a:t>• Monitor suspicious movements</a:t>
            </a:r>
            <a:br>
              <a:rPr lang="en-US" dirty="0"/>
            </a:br>
            <a:r>
              <a:rPr lang="en-US" dirty="0"/>
              <a:t>• Track multiple faces</a:t>
            </a:r>
            <a:br>
              <a:rPr lang="en-US" dirty="0"/>
            </a:br>
            <a:r>
              <a:rPr lang="en-US" dirty="0"/>
              <a:t>• Maintain real-time suspicion score</a:t>
            </a:r>
          </a:p>
          <a:p>
            <a:pPr marL="0" indent="0">
              <a:buNone/>
            </a:pPr>
            <a:r>
              <a:rPr lang="en-US" dirty="0"/>
              <a:t>The goal is to enhance fairness and transparency in online examinations.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394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Existing Online Proctoring Systems:</a:t>
            </a:r>
          </a:p>
          <a:p>
            <a:pPr marL="0" indent="0">
              <a:buNone/>
            </a:pPr>
            <a:r>
              <a:rPr lang="en-IN" dirty="0"/>
              <a:t>• Mostly cloud-based paid solutions</a:t>
            </a:r>
            <a:br>
              <a:rPr lang="en-IN" dirty="0"/>
            </a:br>
            <a:r>
              <a:rPr lang="en-IN" dirty="0"/>
              <a:t>• Require heavy infrastructure</a:t>
            </a:r>
            <a:br>
              <a:rPr lang="en-IN" dirty="0"/>
            </a:br>
            <a:r>
              <a:rPr lang="en-IN" dirty="0"/>
              <a:t>• Focus on recording rather than detection</a:t>
            </a:r>
          </a:p>
          <a:p>
            <a:pPr marL="0" indent="0">
              <a:buNone/>
            </a:pPr>
            <a:r>
              <a:rPr lang="en-IN" dirty="0"/>
              <a:t>Common Technologies Used:</a:t>
            </a:r>
            <a:br>
              <a:rPr lang="en-IN" dirty="0"/>
            </a:br>
            <a:r>
              <a:rPr lang="en-IN" dirty="0"/>
              <a:t>• Face recognition systems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Behavior</a:t>
            </a:r>
            <a:r>
              <a:rPr lang="en-IN" dirty="0"/>
              <a:t> analysis algorithms</a:t>
            </a:r>
          </a:p>
          <a:p>
            <a:pPr marL="0" indent="0">
              <a:buNone/>
            </a:pPr>
            <a:r>
              <a:rPr lang="en-IN" dirty="0"/>
              <a:t>Limitation: High cost and privacy concerns.</a:t>
            </a:r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Design and implement a real-time examination monitoring system capable of detecting suspicious head movements during online exams.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To detect head orientation in real time</a:t>
            </a:r>
            <a:br>
              <a:rPr lang="en-US" dirty="0"/>
            </a:br>
            <a:r>
              <a:rPr lang="en-US" dirty="0"/>
              <a:t>• To calculate yaw and pitch angles</a:t>
            </a:r>
            <a:br>
              <a:rPr lang="en-US" dirty="0"/>
            </a:br>
            <a:r>
              <a:rPr lang="en-US" dirty="0"/>
              <a:t>• To identify suspicious left/right/down movement</a:t>
            </a:r>
            <a:br>
              <a:rPr lang="en-US" dirty="0"/>
            </a:br>
            <a:r>
              <a:rPr lang="en-US" dirty="0"/>
              <a:t>• To maintain a suspicion event counter</a:t>
            </a:r>
            <a:br>
              <a:rPr lang="en-US" dirty="0"/>
            </a:br>
            <a:r>
              <a:rPr lang="en-US" dirty="0"/>
              <a:t>• To create a deployable GitHub-hosted project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 (4 slides)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EF98-E6AD-70D5-2BE9-3A859F15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1: Video Input</a:t>
            </a:r>
          </a:p>
          <a:p>
            <a:r>
              <a:rPr lang="en-US" dirty="0"/>
              <a:t>Capture live webcam feed using OpenCV</a:t>
            </a:r>
          </a:p>
          <a:p>
            <a:pPr marL="0" indent="0">
              <a:buNone/>
            </a:pPr>
            <a:r>
              <a:rPr lang="en-US" dirty="0"/>
              <a:t>Step 2: Face Detection</a:t>
            </a:r>
          </a:p>
          <a:p>
            <a:r>
              <a:rPr lang="en-US" dirty="0"/>
              <a:t>Detect face using </a:t>
            </a:r>
            <a:r>
              <a:rPr lang="en-US" dirty="0" err="1"/>
              <a:t>MediaPipe</a:t>
            </a:r>
            <a:r>
              <a:rPr lang="en-US" dirty="0"/>
              <a:t> Face Mesh</a:t>
            </a:r>
          </a:p>
        </p:txBody>
      </p:sp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9EBBE-F4CB-8315-5540-79EAE5919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B508F-BB0F-8863-A9D0-05B90306D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3: Landmark Extraction</a:t>
            </a:r>
          </a:p>
          <a:p>
            <a:r>
              <a:rPr lang="en-US" dirty="0"/>
              <a:t>Extract 3D facial key points</a:t>
            </a:r>
          </a:p>
          <a:p>
            <a:r>
              <a:rPr lang="en-US" dirty="0"/>
              <a:t>Nose, Chin, Eye Corners</a:t>
            </a:r>
          </a:p>
          <a:p>
            <a:pPr marL="0" indent="0">
              <a:buNone/>
            </a:pPr>
            <a:r>
              <a:rPr lang="en-US" dirty="0"/>
              <a:t>Step 4: Head Pose Estimation</a:t>
            </a:r>
          </a:p>
          <a:p>
            <a:r>
              <a:rPr lang="en-US" dirty="0"/>
              <a:t>Compare the nose landmarks with </a:t>
            </a:r>
            <a:r>
              <a:rPr lang="en-US" dirty="0" err="1"/>
              <a:t>centre</a:t>
            </a:r>
            <a:r>
              <a:rPr lang="en-US" dirty="0"/>
              <a:t> of frame and thus getting the head pose estimation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6382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76084-DD6B-88D4-41C2-14C6DDBFE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A90E9-B6C6-681E-E832-F3B1FD681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5: Suspicion Detection</a:t>
            </a:r>
          </a:p>
          <a:p>
            <a:r>
              <a:rPr lang="en-US" dirty="0"/>
              <a:t>Apply threshold logic</a:t>
            </a:r>
          </a:p>
          <a:p>
            <a:r>
              <a:rPr lang="en-US" dirty="0"/>
              <a:t>Trigger event if angle exceeds limit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8191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9FAE-C685-2942-D3D4-216A6AC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33A6-B209-82E0-3AC4-ED0F2117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E7BA16-16A0-AD8F-BBAF-E3C9BC34C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966780"/>
              </p:ext>
            </p:extLst>
          </p:nvPr>
        </p:nvGraphicFramePr>
        <p:xfrm>
          <a:off x="705464" y="1893365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788151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9201082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013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91.8%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71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~22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481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False Positives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&lt;8%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4151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Detection Delay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&lt;200ms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26412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1ECBF701-F54A-C9A3-B3B4-B0A80E4410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936" y="4806302"/>
            <a:ext cx="446608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Performance Metrics: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Comparison: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Manual Monitoring – 65%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efficiency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Our System – 90%+ detection reliability</a:t>
            </a:r>
          </a:p>
        </p:txBody>
      </p:sp>
    </p:spTree>
    <p:extLst>
      <p:ext uri="{BB962C8B-B14F-4D97-AF65-F5344CB8AC3E}">
        <p14:creationId xmlns:p14="http://schemas.microsoft.com/office/powerpoint/2010/main" val="3645671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452-3000-DF4A-F633-2C06CB0E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84D1-BF8A-599C-4DEE-5FD15C7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Current Semester Achievement:</a:t>
            </a:r>
          </a:p>
          <a:p>
            <a:pPr marL="0" indent="0">
              <a:buNone/>
            </a:pPr>
            <a:r>
              <a:rPr lang="en-US" sz="2400" dirty="0"/>
              <a:t>✔ Real-time head pose detection implemented</a:t>
            </a:r>
            <a:br>
              <a:rPr lang="en-US" sz="2400" dirty="0"/>
            </a:br>
            <a:r>
              <a:rPr lang="en-US" sz="2400" dirty="0"/>
              <a:t>✔ Suspicion scoring engine completed</a:t>
            </a:r>
            <a:br>
              <a:rPr lang="en-US" sz="2400" dirty="0"/>
            </a:br>
            <a:r>
              <a:rPr lang="en-US" sz="2400" dirty="0"/>
              <a:t>✔ GitHub hosting deployed</a:t>
            </a:r>
            <a:br>
              <a:rPr lang="en-US" sz="2400" dirty="0"/>
            </a:br>
            <a:r>
              <a:rPr lang="en-US" sz="2400" dirty="0"/>
              <a:t>✔ Live demonstration working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549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C5325-4A51-AE05-7BE6-440D74D0B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88C38-4C0A-7C78-2FF6-39EB62252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 Eye gaze tracking</a:t>
            </a:r>
            <a:br>
              <a:rPr lang="en-IN" dirty="0"/>
            </a:br>
            <a:r>
              <a:rPr lang="en-IN" dirty="0"/>
              <a:t>• Audio anomaly detection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Behavior</a:t>
            </a:r>
            <a:r>
              <a:rPr lang="en-IN" dirty="0"/>
              <a:t> classification using deep learning</a:t>
            </a:r>
            <a:br>
              <a:rPr lang="en-IN" dirty="0"/>
            </a:br>
            <a:r>
              <a:rPr lang="en-IN" dirty="0"/>
              <a:t>• Cloud-based report generation</a:t>
            </a:r>
            <a:br>
              <a:rPr lang="en-IN" dirty="0"/>
            </a:br>
            <a:r>
              <a:rPr lang="en-IN" dirty="0"/>
              <a:t>• Automated exam logs</a:t>
            </a:r>
          </a:p>
        </p:txBody>
      </p:sp>
    </p:spTree>
    <p:extLst>
      <p:ext uri="{BB962C8B-B14F-4D97-AF65-F5344CB8AC3E}">
        <p14:creationId xmlns:p14="http://schemas.microsoft.com/office/powerpoint/2010/main" val="2724917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418</Words>
  <Application>Microsoft Office PowerPoint</Application>
  <PresentationFormat>Widescreen</PresentationFormat>
  <Paragraphs>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 Theme</vt:lpstr>
      <vt:lpstr> Examination Monitoring System</vt:lpstr>
      <vt:lpstr>Outline</vt:lpstr>
      <vt:lpstr>Introduction</vt:lpstr>
      <vt:lpstr>Introduction</vt:lpstr>
      <vt:lpstr>Literature Review</vt:lpstr>
      <vt:lpstr>Problem Statement</vt:lpstr>
      <vt:lpstr>Objectives</vt:lpstr>
      <vt:lpstr>Proposed Methodology (4 slides)</vt:lpstr>
      <vt:lpstr>Proposed Methodology</vt:lpstr>
      <vt:lpstr>Proposed Methodology</vt:lpstr>
      <vt:lpstr>Result </vt:lpstr>
      <vt:lpstr>Outcome </vt:lpstr>
      <vt:lpstr>FUTURE SCOPE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Siddhesh Singh Parmar</cp:lastModifiedBy>
  <cp:revision>12</cp:revision>
  <dcterms:created xsi:type="dcterms:W3CDTF">2025-09-29T05:03:41Z</dcterms:created>
  <dcterms:modified xsi:type="dcterms:W3CDTF">2026-02-18T19:50:13Z</dcterms:modified>
</cp:coreProperties>
</file>