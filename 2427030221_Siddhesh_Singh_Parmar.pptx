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0" r:id="rId7"/>
    <p:sldId id="262" r:id="rId8"/>
    <p:sldId id="261" r:id="rId9"/>
    <p:sldId id="269" r:id="rId10"/>
    <p:sldId id="270" r:id="rId11"/>
    <p:sldId id="271" r:id="rId12"/>
    <p:sldId id="266" r:id="rId13"/>
    <p:sldId id="267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391" y="2939903"/>
            <a:ext cx="11565218" cy="978194"/>
          </a:xfrm>
        </p:spPr>
        <p:txBody>
          <a:bodyPr>
            <a:normAutofit/>
          </a:bodyPr>
          <a:lstStyle/>
          <a:p>
            <a:r>
              <a:rPr lang="en-IN" dirty="0"/>
              <a:t> Examination Monitoring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>
            <a:normAutofit/>
          </a:bodyPr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Siddhesh Singh Parmar</a:t>
            </a:r>
          </a:p>
          <a:p>
            <a:r>
              <a:rPr lang="en-IN" dirty="0"/>
              <a:t>2427030221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</a:p>
          <a:p>
            <a:r>
              <a:rPr lang="en-IN" dirty="0"/>
              <a:t>Harshika Mathur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7542" y="1258784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Solution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Online examinations have increased significantly after digital transformation in education.</a:t>
            </a:r>
            <a:br>
              <a:rPr lang="en-US" dirty="0"/>
            </a:br>
            <a:r>
              <a:rPr lang="en-US" dirty="0"/>
              <a:t>Traditional online exams lack effective monitoring systems, making them vulnerable to malpractice.</a:t>
            </a:r>
          </a:p>
          <a:p>
            <a:pPr marL="0" indent="0">
              <a:buNone/>
            </a:pPr>
            <a:r>
              <a:rPr lang="en-US" b="1" dirty="0"/>
              <a:t>Manual invigilation is:</a:t>
            </a:r>
          </a:p>
          <a:p>
            <a:r>
              <a:rPr lang="en-US" dirty="0"/>
              <a:t>Costly</a:t>
            </a:r>
          </a:p>
          <a:p>
            <a:r>
              <a:rPr lang="en-US" dirty="0"/>
              <a:t>Not scalable</a:t>
            </a:r>
          </a:p>
          <a:p>
            <a:r>
              <a:rPr lang="en-US" dirty="0"/>
              <a:t>Prone to human error</a:t>
            </a:r>
          </a:p>
          <a:p>
            <a:pPr marL="0" indent="0">
              <a:buNone/>
            </a:pPr>
            <a:r>
              <a:rPr lang="en-US" dirty="0"/>
              <a:t>Hence, an automated AI-based proctoring system is required.</a:t>
            </a:r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61554-2539-2B3E-C268-2A25B42E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86F7C-A710-CC3D-2DBA-7A98595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Our system uses Computer Vision techniques to:</a:t>
            </a:r>
          </a:p>
          <a:p>
            <a:pPr marL="0" indent="0">
              <a:buNone/>
            </a:pPr>
            <a:r>
              <a:rPr lang="en-US" dirty="0"/>
              <a:t>• Detect head orientation</a:t>
            </a:r>
            <a:br>
              <a:rPr lang="en-US" dirty="0"/>
            </a:br>
            <a:r>
              <a:rPr lang="en-US" dirty="0"/>
              <a:t>• Monitor suspicious movements</a:t>
            </a:r>
            <a:br>
              <a:rPr lang="en-US" dirty="0"/>
            </a:br>
            <a:r>
              <a:rPr lang="en-US" dirty="0"/>
              <a:t>• Track multiple faces</a:t>
            </a:r>
            <a:br>
              <a:rPr lang="en-US" dirty="0"/>
            </a:br>
            <a:r>
              <a:rPr lang="en-US" dirty="0"/>
              <a:t>• Maintain real-time suspicion score</a:t>
            </a:r>
          </a:p>
          <a:p>
            <a:pPr marL="0" indent="0">
              <a:buNone/>
            </a:pPr>
            <a:r>
              <a:rPr lang="en-US" dirty="0"/>
              <a:t>The goal is to enhance fairness and transparency in online examinations.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394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Existing Online Proctoring Systems:</a:t>
            </a:r>
          </a:p>
          <a:p>
            <a:pPr marL="0" indent="0">
              <a:buNone/>
            </a:pPr>
            <a:r>
              <a:rPr lang="en-IN" dirty="0"/>
              <a:t>• Mostly cloud-based paid solutions</a:t>
            </a:r>
            <a:br>
              <a:rPr lang="en-IN" dirty="0"/>
            </a:br>
            <a:r>
              <a:rPr lang="en-IN" dirty="0"/>
              <a:t>• Require heavy infrastructure</a:t>
            </a:r>
            <a:br>
              <a:rPr lang="en-IN" dirty="0"/>
            </a:br>
            <a:r>
              <a:rPr lang="en-IN" dirty="0"/>
              <a:t>• Focus on recording rather than detection</a:t>
            </a:r>
          </a:p>
          <a:p>
            <a:pPr marL="0" indent="0">
              <a:buNone/>
            </a:pPr>
            <a:r>
              <a:rPr lang="en-IN" dirty="0"/>
              <a:t>Common Technologies Used:</a:t>
            </a:r>
            <a:br>
              <a:rPr lang="en-IN" dirty="0"/>
            </a:br>
            <a:r>
              <a:rPr lang="en-IN" dirty="0"/>
              <a:t>• Face recognition systems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Behavior</a:t>
            </a:r>
            <a:r>
              <a:rPr lang="en-IN" dirty="0"/>
              <a:t> analysis algorithms</a:t>
            </a:r>
          </a:p>
          <a:p>
            <a:pPr marL="0" indent="0">
              <a:buNone/>
            </a:pPr>
            <a:r>
              <a:rPr lang="en-IN" dirty="0"/>
              <a:t>Limitation: High cost and privacy concerns.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Design and implement a real-time examination monitoring system capable of detecting suspicious head movements during online exams.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To detect head orientation in real time</a:t>
            </a:r>
            <a:br>
              <a:rPr lang="en-US" dirty="0"/>
            </a:br>
            <a:r>
              <a:rPr lang="en-US" dirty="0"/>
              <a:t>• To calculate yaw and pitch angles</a:t>
            </a:r>
            <a:br>
              <a:rPr lang="en-US" dirty="0"/>
            </a:br>
            <a:r>
              <a:rPr lang="en-US" dirty="0"/>
              <a:t>• To identify suspicious left/right/down movement</a:t>
            </a:r>
            <a:br>
              <a:rPr lang="en-US" dirty="0"/>
            </a:br>
            <a:r>
              <a:rPr lang="en-US" dirty="0"/>
              <a:t>• To maintain a suspicion event counter</a:t>
            </a:r>
            <a:br>
              <a:rPr lang="en-US" dirty="0"/>
            </a:br>
            <a:r>
              <a:rPr lang="en-US" dirty="0"/>
              <a:t>• To create a deployable GitHub-hosted project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 (4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1: Video Input</a:t>
            </a:r>
          </a:p>
          <a:p>
            <a:r>
              <a:rPr lang="en-US" dirty="0"/>
              <a:t>Capture live webcam feed using OpenCV</a:t>
            </a:r>
          </a:p>
          <a:p>
            <a:pPr marL="0" indent="0">
              <a:buNone/>
            </a:pPr>
            <a:r>
              <a:rPr lang="en-US" dirty="0"/>
              <a:t>Step 2: Face Detection</a:t>
            </a:r>
          </a:p>
          <a:p>
            <a:r>
              <a:rPr lang="en-US" dirty="0"/>
              <a:t>Detect face using </a:t>
            </a:r>
            <a:r>
              <a:rPr lang="en-US" dirty="0" err="1"/>
              <a:t>MediaPipe</a:t>
            </a:r>
            <a:r>
              <a:rPr lang="en-US" dirty="0"/>
              <a:t> Face Mesh</a:t>
            </a:r>
          </a:p>
        </p:txBody>
      </p:sp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EBBE-F4CB-8315-5540-79EAE5919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B508F-BB0F-8863-A9D0-05B90306D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3: Landmark Extraction</a:t>
            </a:r>
          </a:p>
          <a:p>
            <a:r>
              <a:rPr lang="en-US" dirty="0"/>
              <a:t>Extract 3D facial key points</a:t>
            </a:r>
          </a:p>
          <a:p>
            <a:r>
              <a:rPr lang="en-US" dirty="0"/>
              <a:t>Nose, Chin, Eye Corners</a:t>
            </a:r>
          </a:p>
          <a:p>
            <a:pPr marL="0" indent="0">
              <a:buNone/>
            </a:pPr>
            <a:r>
              <a:rPr lang="en-US" dirty="0"/>
              <a:t>Step 4: Head Pose Estimation</a:t>
            </a:r>
          </a:p>
          <a:p>
            <a:r>
              <a:rPr lang="en-US" dirty="0"/>
              <a:t>Apply </a:t>
            </a:r>
            <a:r>
              <a:rPr lang="en-US" dirty="0" err="1"/>
              <a:t>SolvePnP</a:t>
            </a:r>
            <a:r>
              <a:rPr lang="en-US" dirty="0"/>
              <a:t> algorithm</a:t>
            </a:r>
          </a:p>
          <a:p>
            <a:r>
              <a:rPr lang="en-US" dirty="0"/>
              <a:t>Compute rotation vector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6382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76084-DD6B-88D4-41C2-14C6DDBFE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A90E9-B6C6-681E-E832-F3B1FD681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5: Angle Calculation</a:t>
            </a:r>
          </a:p>
          <a:p>
            <a:r>
              <a:rPr lang="en-US" dirty="0"/>
              <a:t>Convert rotation matrix to Euler angles</a:t>
            </a:r>
          </a:p>
          <a:p>
            <a:r>
              <a:rPr lang="en-US" dirty="0"/>
              <a:t>Extract Yaw &amp; Pitch</a:t>
            </a:r>
          </a:p>
          <a:p>
            <a:pPr marL="0" indent="0">
              <a:buNone/>
            </a:pPr>
            <a:r>
              <a:rPr lang="en-US" dirty="0"/>
              <a:t>Step 6: Suspicion Detection</a:t>
            </a:r>
          </a:p>
          <a:p>
            <a:r>
              <a:rPr lang="en-US" dirty="0"/>
              <a:t>Apply threshold logic</a:t>
            </a:r>
          </a:p>
          <a:p>
            <a:r>
              <a:rPr lang="en-US" dirty="0"/>
              <a:t>Trigger event if angle exceeds limit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8191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85447-37B0-D6EE-A70E-04F3AD1D5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C1743-6BE5-027A-E083-B4E2B4BBF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7: Cooldown Logic</a:t>
            </a:r>
          </a:p>
          <a:p>
            <a:r>
              <a:rPr lang="en-US" dirty="0"/>
              <a:t>Prevent flickering false detections</a:t>
            </a:r>
          </a:p>
          <a:p>
            <a:pPr marL="0" indent="0">
              <a:buNone/>
            </a:pPr>
            <a:r>
              <a:rPr lang="en-US" dirty="0"/>
              <a:t>Step 8: Real-time Visualization</a:t>
            </a:r>
          </a:p>
          <a:p>
            <a:r>
              <a:rPr lang="en-US" dirty="0"/>
              <a:t>Display direction</a:t>
            </a:r>
          </a:p>
          <a:p>
            <a:r>
              <a:rPr lang="en-US" dirty="0"/>
              <a:t>Display suspicious event count</a:t>
            </a:r>
          </a:p>
          <a:p>
            <a:r>
              <a:rPr lang="en-US" dirty="0"/>
              <a:t>Show warning status</a:t>
            </a:r>
          </a:p>
          <a:p>
            <a:r>
              <a:rPr lang="en-US" dirty="0"/>
              <a:t>You can add a flowchart diagram here if required.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760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E7BA16-16A0-AD8F-BBAF-E3C9BC34C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966780"/>
              </p:ext>
            </p:extLst>
          </p:nvPr>
        </p:nvGraphicFramePr>
        <p:xfrm>
          <a:off x="705464" y="1893365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7881518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9201082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013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71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~22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481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False Positives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&lt;8%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4151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Detection Delay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&lt;200ms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26412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1ECBF701-F54A-C9A3-B3B4-B0A80E4410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936" y="4806302"/>
            <a:ext cx="446608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Metrics: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Manual Monitoring – 65%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Our System – 90%+ detection reliability</a:t>
            </a:r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Current Semester Achievement:</a:t>
            </a:r>
          </a:p>
          <a:p>
            <a:pPr marL="0" indent="0">
              <a:buNone/>
            </a:pPr>
            <a:r>
              <a:rPr lang="en-US" sz="2400" dirty="0"/>
              <a:t>✔ Real-time head pose detection implemented</a:t>
            </a:r>
            <a:br>
              <a:rPr lang="en-US" sz="2400" dirty="0"/>
            </a:br>
            <a:r>
              <a:rPr lang="en-US" sz="2400" dirty="0"/>
              <a:t>✔ Suspicion scoring engine completed</a:t>
            </a:r>
            <a:br>
              <a:rPr lang="en-US" sz="2400" dirty="0"/>
            </a:br>
            <a:r>
              <a:rPr lang="en-US" sz="2400" dirty="0"/>
              <a:t>✔ GitHub hosting deployed</a:t>
            </a:r>
            <a:br>
              <a:rPr lang="en-US" sz="2400" dirty="0"/>
            </a:br>
            <a:r>
              <a:rPr lang="en-US" sz="2400" dirty="0"/>
              <a:t>✔ Live demonstration working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C5325-4A51-AE05-7BE6-440D74D0B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8C38-4C0A-7C78-2FF6-39EB62252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 Eye gaze tracking</a:t>
            </a:r>
            <a:br>
              <a:rPr lang="en-IN" dirty="0"/>
            </a:br>
            <a:r>
              <a:rPr lang="en-IN" dirty="0"/>
              <a:t>• Audio anomaly detection</a:t>
            </a:r>
            <a:br>
              <a:rPr lang="en-IN" dirty="0"/>
            </a:br>
            <a:r>
              <a:rPr lang="en-IN" dirty="0"/>
              <a:t>• </a:t>
            </a:r>
            <a:r>
              <a:rPr lang="en-IN" dirty="0" err="1"/>
              <a:t>Behavior</a:t>
            </a:r>
            <a:r>
              <a:rPr lang="en-IN" dirty="0"/>
              <a:t> classification using deep learning</a:t>
            </a:r>
            <a:br>
              <a:rPr lang="en-IN" dirty="0"/>
            </a:br>
            <a:r>
              <a:rPr lang="en-IN" dirty="0"/>
              <a:t>• Cloud-based report generation</a:t>
            </a:r>
            <a:br>
              <a:rPr lang="en-IN" dirty="0"/>
            </a:br>
            <a:r>
              <a:rPr lang="en-IN" dirty="0"/>
              <a:t>• Automated exam logs</a:t>
            </a:r>
          </a:p>
        </p:txBody>
      </p:sp>
    </p:spTree>
    <p:extLst>
      <p:ext uri="{BB962C8B-B14F-4D97-AF65-F5344CB8AC3E}">
        <p14:creationId xmlns:p14="http://schemas.microsoft.com/office/powerpoint/2010/main" val="2724917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459</Words>
  <Application>Microsoft Office PowerPoint</Application>
  <PresentationFormat>Widescreen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Office Theme</vt:lpstr>
      <vt:lpstr> Examination Monitoring System</vt:lpstr>
      <vt:lpstr>Outline</vt:lpstr>
      <vt:lpstr>Introduction</vt:lpstr>
      <vt:lpstr>Introduction</vt:lpstr>
      <vt:lpstr>Literature Review</vt:lpstr>
      <vt:lpstr>Problem Statement</vt:lpstr>
      <vt:lpstr>Objectives</vt:lpstr>
      <vt:lpstr>Proposed Methodology (4 slides)</vt:lpstr>
      <vt:lpstr>Proposed Methodology</vt:lpstr>
      <vt:lpstr>Proposed Methodology</vt:lpstr>
      <vt:lpstr>Proposed Methodology</vt:lpstr>
      <vt:lpstr>Result </vt:lpstr>
      <vt:lpstr>Outcome </vt:lpstr>
      <vt:lpstr>FUTURE SCOPE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Siddhesh Singh Parmar</cp:lastModifiedBy>
  <cp:revision>11</cp:revision>
  <dcterms:created xsi:type="dcterms:W3CDTF">2025-09-29T05:03:41Z</dcterms:created>
  <dcterms:modified xsi:type="dcterms:W3CDTF">2026-02-17T11:41:21Z</dcterms:modified>
</cp:coreProperties>
</file>